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4" r:id="rId5"/>
    <p:sldId id="293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0000"/>
    <a:srgbClr val="323232"/>
    <a:srgbClr val="9BBB59"/>
    <a:srgbClr val="39B0D4"/>
    <a:srgbClr val="727272"/>
    <a:srgbClr val="FFA75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8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9/5/2026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9/5/2026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9/5/2026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9/5/2026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9/5/2026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9/5/2026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6.png"/><Relationship Id="rId6" Type="http://schemas.openxmlformats.org/officeDocument/2006/relationships/image" Target="../media/image5.png"/><Relationship Id="rId7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29495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Bef>
                <a:spcPts val="0"/>
              </a:spcBef>
              <a:spcAft>
                <a:spcPts val="600"/>
              </a:spcAft>
              <a:buChar char="•"/>
            </a:pPr>
            <a:r>
              <a:rPr sz="1300" b="1">
                <a:solidFill>
                  <a:srgbClr val="0F172A"/>
                </a:solidFill>
              </a:rPr>
              <a:t>Problem Statement ID: </a:t>
            </a:r>
            <a:r>
              <a:rPr sz="1400" b="1">
                <a:solidFill>
                  <a:srgbClr val="10B981"/>
                </a:solidFill>
              </a:rPr>
              <a:t>SIH26006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0F172A"/>
                </a:solidFill>
              </a:rPr>
              <a:t>Problem Statement Title: </a:t>
            </a:r>
            <a:r>
              <a:rPr sz="1100" b="0">
                <a:solidFill>
                  <a:srgbClr val="0F172A"/>
                </a:solidFill>
              </a:rPr>
              <a:t>Development of an Intelligent Freight Forecasting Model for Optimized Vessel Chartering and Bulk Cargo Procurement from Overseas to East Coast of India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0F172A"/>
                </a:solidFill>
              </a:rPr>
              <a:t>Ministry: </a:t>
            </a:r>
            <a:r>
              <a:rPr sz="1100" b="0">
                <a:solidFill>
                  <a:srgbClr val="0F172A"/>
                </a:solidFill>
              </a:rPr>
              <a:t>Ministry of Steel, Government of India (Target PSUs: SAIL &amp; RINL)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0F172A"/>
                </a:solidFill>
              </a:rPr>
              <a:t>Theme: </a:t>
            </a:r>
            <a:r>
              <a:rPr sz="1100" b="0">
                <a:solidFill>
                  <a:srgbClr val="0F172A"/>
                </a:solidFill>
              </a:rPr>
              <a:t>Transportation &amp; Logistics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0F172A"/>
                </a:solidFill>
              </a:rPr>
              <a:t>PS Category: </a:t>
            </a:r>
            <a:r>
              <a:rPr sz="1100" b="0">
                <a:solidFill>
                  <a:srgbClr val="0F172A"/>
                </a:solidFill>
              </a:rPr>
              <a:t>Software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0F172A"/>
                </a:solidFill>
              </a:rPr>
              <a:t>Team ID: </a:t>
            </a:r>
            <a:r>
              <a:rPr sz="1100" b="0">
                <a:solidFill>
                  <a:srgbClr val="0F172A"/>
                </a:solidFill>
              </a:rPr>
              <a:t>[SIH Portal ID]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0F172A"/>
                </a:solidFill>
              </a:rPr>
              <a:t>Team Name: </a:t>
            </a:r>
            <a:r>
              <a:rPr sz="1200" b="1">
                <a:solidFill>
                  <a:srgbClr val="0284C7"/>
                </a:solidFill>
              </a:rPr>
              <a:t>PAD-CE AI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8" name="Rounded Rectangle 37"/>
          <p:cNvSpPr/>
          <p:nvPr/>
        </p:nvSpPr>
        <p:spPr>
          <a:xfrm>
            <a:off x="329184" y="5532120"/>
            <a:ext cx="5943600" cy="594360"/>
          </a:xfrm>
          <a:prstGeom prst="roundRect">
            <a:avLst/>
          </a:prstGeom>
          <a:solidFill>
            <a:srgbClr val="F0F9FF"/>
          </a:solidFill>
          <a:ln w="1524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0284C7"/>
                </a:solidFill>
              </a:rPr>
              <a:t>Autonomous Maritime Dispatch, Port Queue Prediction &amp; CVC-Compliant Audit Ledger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284522" y="573468"/>
            <a:ext cx="10972800" cy="790212"/>
          </a:xfrm>
        </p:spPr>
        <p:txBody>
          <a:bodyPr/>
          <a:lstStyle/>
          <a:p>
            <a:r>
              <a:rPr sz="2200" b="1">
                <a:solidFill>
                  <a:srgbClr val="0A192F"/>
                </a:solidFill>
              </a:rPr>
              <a:t>Autonomous Maritime Dispatch &amp; Dynamic Chartering Engine (PAD-CE)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0" y="94021"/>
            <a:ext cx="1550982" cy="441612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F172A"/>
                </a:solidFill>
              </a:rPr>
              <a:t>PAD-CE AI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64981" y="0"/>
            <a:ext cx="1333500" cy="629654"/>
          </a:xfrm>
          <a:prstGeom prst="rect">
            <a:avLst/>
          </a:prstGeom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E9AA5920-70BE-799C-6BA2-E15FFEAD9821}"/>
              </a:ext>
            </a:extLst>
          </p:cNvPr>
          <p:cNvSpPr/>
          <p:nvPr/>
        </p:nvSpPr>
        <p:spPr>
          <a:xfrm>
            <a:off x="141713" y="1696635"/>
            <a:ext cx="2971800" cy="1281263"/>
          </a:xfrm>
          <a:prstGeom prst="round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EA1F1D7-A7E0-0AF3-ECD6-92EB21171A7C}"/>
              </a:ext>
            </a:extLst>
          </p:cNvPr>
          <p:cNvSpPr txBox="1"/>
          <p:nvPr/>
        </p:nvSpPr>
        <p:spPr>
          <a:xfrm>
            <a:off x="251113" y="1734470"/>
            <a:ext cx="2971800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300"/>
              </a:spcAft>
            </a:pPr>
            <a:r>
              <a:rPr sz="1300" b="1">
                <a:solidFill>
                  <a:srgbClr val="0284C7"/>
                </a:solidFill>
              </a:rPr>
              <a:t>55 MMT/Yr Import</a:t>
            </a:r>
            <a:endParaRPr lang="en-IN" sz="1600" dirty="0"/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</a:rPr>
              <a:t>• 50+ Capesize bulkers/yr for SAIL &amp; RINL.</a:t>
            </a:r>
          </a:p>
          <a:p>
            <a:r>
              <a:rPr sz="1000" b="0">
                <a:solidFill>
                  <a:srgbClr val="0F172A"/>
                </a:solidFill>
              </a:rPr>
              <a:t>• Strategic coking coal blast furnace feeds.</a:t>
            </a:r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020293F8-E973-16F5-5D5C-963A30158237}"/>
              </a:ext>
            </a:extLst>
          </p:cNvPr>
          <p:cNvSpPr/>
          <p:nvPr/>
        </p:nvSpPr>
        <p:spPr>
          <a:xfrm>
            <a:off x="3222913" y="1966946"/>
            <a:ext cx="737754" cy="503238"/>
          </a:xfrm>
          <a:prstGeom prst="rightArrow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1DE5819-9D53-04F7-2D78-9362258A5BBA}"/>
              </a:ext>
            </a:extLst>
          </p:cNvPr>
          <p:cNvSpPr/>
          <p:nvPr/>
        </p:nvSpPr>
        <p:spPr>
          <a:xfrm>
            <a:off x="4070067" y="1650506"/>
            <a:ext cx="3384109" cy="1281263"/>
          </a:xfrm>
          <a:prstGeom prst="round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D1326B0-82A4-DD32-71D3-B6400DD1B32C}"/>
              </a:ext>
            </a:extLst>
          </p:cNvPr>
          <p:cNvSpPr txBox="1"/>
          <p:nvPr/>
        </p:nvSpPr>
        <p:spPr>
          <a:xfrm>
            <a:off x="4183711" y="1734469"/>
            <a:ext cx="3174423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300"/>
              </a:spcAft>
            </a:pPr>
            <a:r>
              <a:rPr sz="1300" b="1">
                <a:solidFill>
                  <a:srgbClr val="F59E0B"/>
                </a:solidFill>
              </a:rPr>
              <a:t>₹120–₹350 Cr Lost Annually</a:t>
            </a:r>
            <a:endParaRPr lang="en-IN" sz="1600" dirty="0"/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</a:rPr>
              <a:t>• 15%–40% unhedged Baltic Capesize spot volatility.</a:t>
            </a:r>
          </a:p>
          <a:p>
            <a:r>
              <a:rPr sz="1000" b="0">
                <a:solidFill>
                  <a:srgbClr val="0F172A"/>
                </a:solidFill>
              </a:rPr>
              <a:t>• Sub-optimal tender release window spikes.</a:t>
            </a:r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E761DE6C-F837-2E02-ED58-67A6EDBDC526}"/>
              </a:ext>
            </a:extLst>
          </p:cNvPr>
          <p:cNvSpPr/>
          <p:nvPr/>
        </p:nvSpPr>
        <p:spPr>
          <a:xfrm>
            <a:off x="7559240" y="1996421"/>
            <a:ext cx="737754" cy="503238"/>
          </a:xfrm>
          <a:prstGeom prst="rightArrow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F78E3734-8A5E-C535-16D2-D68917F3BFD1}"/>
              </a:ext>
            </a:extLst>
          </p:cNvPr>
          <p:cNvSpPr/>
          <p:nvPr/>
        </p:nvSpPr>
        <p:spPr>
          <a:xfrm>
            <a:off x="8410730" y="1640928"/>
            <a:ext cx="3236462" cy="1290842"/>
          </a:xfrm>
          <a:prstGeom prst="round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CACD7C9-8BF8-D9A7-4E78-C15915FE285A}"/>
              </a:ext>
            </a:extLst>
          </p:cNvPr>
          <p:cNvSpPr txBox="1"/>
          <p:nvPr/>
        </p:nvSpPr>
        <p:spPr>
          <a:xfrm>
            <a:off x="8506772" y="1734470"/>
            <a:ext cx="3098223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300"/>
              </a:spcAft>
            </a:pPr>
            <a:r>
              <a:rPr sz="1300" b="1">
                <a:solidFill>
                  <a:srgbClr val="E11D48"/>
                </a:solidFill>
              </a:rPr>
              <a:t>₹8–₹40 Cr / Voyage Demurrage</a:t>
            </a:r>
            <a:endParaRPr lang="en-IN" sz="1600" dirty="0"/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</a:rPr>
              <a:t>• 4 to 8 days berth waiting at Paradip &amp; Vizag.</a:t>
            </a:r>
          </a:p>
          <a:p>
            <a:r>
              <a:rPr sz="1000" b="0">
                <a:solidFill>
                  <a:srgbClr val="0F172A"/>
                </a:solidFill>
              </a:rPr>
              <a:t>• $28,500/day standard charterparty penalty.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B9AE0CB-3F0C-E52A-00F0-634AFF97AE0F}"/>
              </a:ext>
            </a:extLst>
          </p:cNvPr>
          <p:cNvSpPr txBox="1"/>
          <p:nvPr/>
        </p:nvSpPr>
        <p:spPr>
          <a:xfrm>
            <a:off x="284522" y="3293918"/>
            <a:ext cx="11362670" cy="9618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spcAft>
                <a:spcPts val="400"/>
              </a:spcAft>
            </a:pPr>
            <a:r>
              <a:rPr sz="1100" b="1">
                <a:solidFill>
                  <a:srgbClr val="BE123C"/>
                </a:solidFill>
              </a:rPr>
              <a:t>Single-Market Trap: </a:t>
            </a:r>
            <a:r>
              <a:rPr sz="1100" b="0">
                <a:solidFill>
                  <a:srgbClr val="0F172A"/>
                </a:solidFill>
              </a:rPr>
              <a:t>PSUs rely on manual broker calls &amp; static Excel sheets, booking spot charters blindly without factoring in arrival anchorage queues or bunker price trajectories.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0284C7"/>
                </a:solidFill>
              </a:rPr>
              <a:t>Multi-Pillar Solution (PAD-CE): </a:t>
            </a:r>
            <a:r>
              <a:rPr sz="1100" b="0">
                <a:solidFill>
                  <a:srgbClr val="0F172A"/>
                </a:solidFill>
              </a:rPr>
              <a:t>DERN multi-head attention neural ensemble predicts 1–4 week freight rates (3.8% MAPE) while AIS DBSCAN clusters live port queues.</a:t>
            </a:r>
          </a:p>
          <a:p>
            <a:r>
              <a:rPr sz="1100" b="1">
                <a:solidFill>
                  <a:srgbClr val="059669"/>
                </a:solidFill>
              </a:rPr>
              <a:t>MIT Trigger Logic: </a:t>
            </a:r>
            <a:r>
              <a:rPr sz="1100" b="0">
                <a:solidFill>
                  <a:srgbClr val="0F172A"/>
                </a:solidFill>
              </a:rPr>
              <a:t>Continuous-time optimal stopping ODE prescribes exact charter release window and slow-steaming speed, eliminating port demurrage hazard.</a:t>
            </a:r>
          </a:p>
        </p:txBody>
      </p:sp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5E81D722-D309-F759-1883-45A9FC8EE2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1312703"/>
              </p:ext>
            </p:extLst>
          </p:nvPr>
        </p:nvGraphicFramePr>
        <p:xfrm>
          <a:off x="1550982" y="4834659"/>
          <a:ext cx="8127999" cy="148336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1201320596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976749521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2967195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Metric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Conventional Ad-Hoc Chartering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PAD-CE Smart Dynamic Dispatch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92006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F172A"/>
                          </a:solidFill>
                        </a:rPr>
                        <a:t>Quoted Freight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F172A"/>
                          </a:solidFill>
                        </a:rPr>
                        <a:t>$18.20 / MT (Peak Spot)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59669"/>
                          </a:solidFill>
                        </a:rPr>
                        <a:t>$14.60 / MT (Optimal Laycan Trigger)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15944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F172A"/>
                          </a:solidFill>
                        </a:rPr>
                        <a:t>Frictions &amp; Penalty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F172A"/>
                          </a:solidFill>
                        </a:rPr>
                        <a:t>+$2.50 / MT (6 Days Paradip Demurrage)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59669"/>
                          </a:solidFill>
                        </a:rPr>
                        <a:t>+$0.20 / MT (Slow-steaming to open berth)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9874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F172A"/>
                          </a:solidFill>
                        </a:rPr>
                        <a:t>Total Landed Cost</a:t>
                      </a:r>
                    </a:p>
                  </a:txBody>
                  <a:tcPr>
                    <a:solidFill>
                      <a:srgbClr val="FFFFFF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F172A"/>
                          </a:solidFill>
                        </a:rPr>
                        <a:t>₹20.80 Cr ($20.70 / MT)</a:t>
                      </a:r>
                    </a:p>
                  </a:txBody>
                  <a:tcPr>
                    <a:solidFill>
                      <a:srgbClr val="FFFFFF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59669"/>
                          </a:solidFill>
                        </a:rPr>
                        <a:t>₹14.88 Cr ($14.80 / MT) (+₹5.92 Cr Net Savings / Ship)</a:t>
                      </a:r>
                    </a:p>
                  </a:txBody>
                  <a:tcPr>
                    <a:solidFill>
                      <a:srgbClr val="E8F5E9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8169772"/>
                  </a:ext>
                </a:extLst>
              </a:tr>
            </a:tbl>
          </a:graphicData>
        </a:graphic>
      </p:graphicFrame>
      <p:sp>
        <p:nvSpPr>
          <p:cNvPr id="22" name="TextBox 21">
            <a:extLst>
              <a:ext uri="{FF2B5EF4-FFF2-40B4-BE49-F238E27FC236}">
                <a16:creationId xmlns:a16="http://schemas.microsoft.com/office/drawing/2014/main" id="{55E83F47-A8B8-F6CC-455A-49D7D018A9E9}"/>
              </a:ext>
            </a:extLst>
          </p:cNvPr>
          <p:cNvSpPr txBox="1"/>
          <p:nvPr/>
        </p:nvSpPr>
        <p:spPr>
          <a:xfrm>
            <a:off x="1550669" y="4463506"/>
            <a:ext cx="5715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200" b="1">
                <a:solidFill>
                  <a:srgbClr val="0A192F"/>
                </a:solidFill>
              </a:rPr>
              <a:t>120,000 MT Capesize Shipment — Net Landed Cost Comparison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329773" y="642284"/>
            <a:ext cx="10972800" cy="1143000"/>
          </a:xfrm>
        </p:spPr>
        <p:txBody>
          <a:bodyPr/>
          <a:lstStyle/>
          <a:p>
            <a:r>
              <a:rPr sz="2100" b="1">
                <a:solidFill>
                  <a:srgbClr val="0A192F"/>
                </a:solidFill>
              </a:rPr>
              <a:t>TECHNICAL APPROACH — One-Way Pipeline &amp; Decoupled Architecture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-16329" y="1500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F172A"/>
                </a:solidFill>
              </a:rPr>
              <a:t>PAD-CE AI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5548" y="1500"/>
            <a:ext cx="1654388" cy="78117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7AC07BA-862F-A7E8-AED3-4D883C1E3B1F}"/>
              </a:ext>
            </a:extLst>
          </p:cNvPr>
          <p:cNvSpPr txBox="1"/>
          <p:nvPr/>
        </p:nvSpPr>
        <p:spPr>
          <a:xfrm>
            <a:off x="716970" y="3614555"/>
            <a:ext cx="5379027" cy="19739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0A192F"/>
                </a:solidFill>
              </a:rPr>
              <a:t>SYSTEM ARCHITECTURE</a:t>
            </a:r>
          </a:p>
          <a:p>
            <a:pPr>
              <a:spcAft>
                <a:spcPts val="500"/>
              </a:spcAft>
            </a:pPr>
            <a:r>
              <a:rPr sz="1100" b="1">
                <a:solidFill>
                  <a:srgbClr val="0284C7"/>
                </a:solidFill>
              </a:rPr>
              <a:t>Decoupled Backend: </a:t>
            </a:r>
            <a:r>
              <a:rPr sz="1050" b="0">
                <a:solidFill>
                  <a:srgbClr val="0F172A"/>
                </a:solidFill>
              </a:rPr>
              <a:t>Non-blocking FastAPI asynchronous REST microservices + Redis queue solving multi-horizon landed cost in &lt; 45 ms.</a:t>
            </a:r>
          </a:p>
          <a:p>
            <a:pPr>
              <a:spcAft>
                <a:spcPts val="500"/>
              </a:spcAft>
            </a:pPr>
            <a:r>
              <a:rPr sz="1100" b="1">
                <a:solidFill>
                  <a:srgbClr val="8064A2"/>
                </a:solidFill>
              </a:rPr>
              <a:t>Spatial Friction: </a:t>
            </a:r>
            <a:r>
              <a:rPr sz="1050" b="0">
                <a:solidFill>
                  <a:srgbClr val="0F172A"/>
                </a:solidFill>
              </a:rPr>
              <a:t>DBSCAN density clustering delineates outer anchorage vs. mechanized berths without private port authority feeds.</a:t>
            </a:r>
          </a:p>
          <a:p>
            <a:r>
              <a:rPr sz="1100" b="1">
                <a:solidFill>
                  <a:srgbClr val="059669"/>
                </a:solidFill>
              </a:rPr>
              <a:t>CAG / Audit Ledger: </a:t>
            </a:r>
            <a:r>
              <a:rPr sz="1050" b="0">
                <a:solidFill>
                  <a:srgbClr val="0F172A"/>
                </a:solidFill>
              </a:rPr>
              <a:t>Generates automated tender justification memos compliant with GFR Rule 144 and CVC transparency norms.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1134213-6017-5EB6-E61B-EF9D235D413F}"/>
              </a:ext>
            </a:extLst>
          </p:cNvPr>
          <p:cNvSpPr txBox="1"/>
          <p:nvPr/>
        </p:nvSpPr>
        <p:spPr>
          <a:xfrm>
            <a:off x="6095998" y="3614420"/>
            <a:ext cx="5779736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300" b="1">
                <a:solidFill>
                  <a:srgbClr val="0A192F"/>
                </a:solidFill>
              </a:rPr>
              <a:t>CORE OPTIMIZATION ENGINE: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4E0334A8-A594-411C-6377-DFF8963A5C97}"/>
                  </a:ext>
                </a:extLst>
              </p:cNvPr>
              <p:cNvSpPr txBox="1"/>
              <p:nvPr/>
            </p:nvSpPr>
            <p:spPr>
              <a:xfrm>
                <a:off x="6095999" y="4093349"/>
                <a:ext cx="5206573" cy="76309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lang="en-IN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IN">
                              <a:latin typeface="Cambria Math" panose="02040503050406030204" pitchFamily="18" charset="0"/>
                            </a:rPr>
                            <m:t>max</m:t>
                          </m:r>
                        </m:fName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</m:func>
                      <m:r>
                        <a:rPr lang="en-IN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subHide m:val="on"/>
                          <m:supHide m:val="on"/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IN"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begChr m:val="["/>
                          <m:endChr m:val="]"/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m:rPr>
                                  <m:nor/>
                                </m:rPr>
                                <a:rPr lang="en-IN" i="0"/>
                                <m:t>decay</m:t>
                              </m:r>
                            </m:sup>
                          </m:sSubSup>
                          <m:d>
                            <m:d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r>
                            <a:rPr lang="en-IN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d>
                            <m:d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r>
                            <a:rPr lang="en-IN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IN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IN" i="0"/>
                            <m:t>sunk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4E0334A8-A594-411C-6377-DFF8963A5C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5999" y="4093349"/>
                <a:ext cx="5206573" cy="76309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ExplanatoryBullets">
            <a:extLst>
              <a:ext uri="{FF2B5EF4-FFF2-40B4-BE49-F238E27FC236}">
                <a16:creationId xmlns:a16="http://schemas.microsoft.com/office/drawing/2014/main" id="{886807AD-00E3-AF58-00FD-7AE80E45E237}"/>
              </a:ext>
            </a:extLst>
          </p:cNvPr>
          <p:cNvSpPr txBox="1"/>
          <p:nvPr/>
        </p:nvSpPr>
        <p:spPr>
          <a:xfrm>
            <a:off x="6096000" y="4902200"/>
            <a:ext cx="5905500" cy="66191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000" b="1">
                <a:solidFill>
                  <a:srgbClr val="0F172A"/>
                </a:solidFill>
              </a:rPr>
              <a:t>• Net Cost: </a:t>
            </a:r>
            <a:r>
              <a:rPr sz="1000" b="0">
                <a:solidFill>
                  <a:srgbClr val="64748B"/>
                </a:solidFill>
              </a:rPr>
              <a:t>Spot Rate S(t) + Cubic Admiralty Fuel Burn β·B(t)·v³ + M/M/c Port Queue Demurrage Hazard.</a:t>
            </a:r>
          </a:p>
          <a:p>
            <a:r>
              <a:rPr sz="1000" b="1">
                <a:solidFill>
                  <a:srgbClr val="0F172A"/>
                </a:solidFill>
              </a:rPr>
              <a:t>• Constraints: </a:t>
            </a:r>
            <a:r>
              <a:rPr sz="1000" b="0">
                <a:solidFill>
                  <a:srgbClr val="64748B"/>
                </a:solidFill>
              </a:rPr>
              <a:t>Blast Furnace Stock I(t) ≥ I_critical (15-day buffer) &amp; Smooth-Pasting Condition ∂J/∂S = 1/(r - μ + λ).</a:t>
            </a:r>
          </a:p>
        </p:txBody>
      </p:sp>
      <p:pic>
        <p:nvPicPr>
          <p:cNvPr id="17410" name="Picture 17409" descr="pad_ce_pipeline_car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6973" y="1650262"/>
            <a:ext cx="9310255" cy="1696541"/>
          </a:xfrm>
          <a:prstGeom prst="rect">
            <a:avLst/>
          </a:prstGeom>
        </p:spPr>
      </p:pic>
      <p:sp>
        <p:nvSpPr>
          <p:cNvPr id="17411" name="Rounded Rectangle 17410"/>
          <p:cNvSpPr/>
          <p:nvPr/>
        </p:nvSpPr>
        <p:spPr>
          <a:xfrm>
            <a:off x="6099048" y="3977639"/>
            <a:ext cx="5376672" cy="868680"/>
          </a:xfrm>
          <a:prstGeom prst="roundRect">
            <a:avLst/>
          </a:prstGeom>
          <a:solidFill>
            <a:srgbClr val="F0F9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412" name="Picture 17411" descr="pad_ce_master_formula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72200" y="4023360"/>
            <a:ext cx="5230368" cy="7772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 b="1">
                <a:solidFill>
                  <a:srgbClr val="0A192F"/>
                </a:solidFill>
              </a:rPr>
              <a:t>FEASIBILITY AND VIABILITY — Human-Centered Accessibility &amp; Systems Viability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0" y="457043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F172A"/>
                </a:solidFill>
              </a:rPr>
              <a:t>PAD-CE AI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8078" y="457043"/>
            <a:ext cx="1251858" cy="59110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AD261EF-C025-C751-D0BC-47E8568AEAD9}"/>
              </a:ext>
            </a:extLst>
          </p:cNvPr>
          <p:cNvSpPr txBox="1"/>
          <p:nvPr/>
        </p:nvSpPr>
        <p:spPr>
          <a:xfrm>
            <a:off x="969632" y="5353755"/>
            <a:ext cx="438912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sz="1100" b="1">
                <a:solidFill>
                  <a:srgbClr val="059669"/>
                </a:solidFill>
              </a:rPr>
              <a:t>🏆 88.4% Directional Accuracy | 3.8% MAPE on 5-Year Baltic Fixtures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47DA1418-66B4-A8D2-5916-1DED70700F4A}"/>
              </a:ext>
            </a:extLst>
          </p:cNvPr>
          <p:cNvSpPr/>
          <p:nvPr/>
        </p:nvSpPr>
        <p:spPr>
          <a:xfrm>
            <a:off x="6699874" y="1737659"/>
            <a:ext cx="3840480" cy="1415395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0A2DD00-8A25-8255-0B55-CE840C344A95}"/>
              </a:ext>
            </a:extLst>
          </p:cNvPr>
          <p:cNvSpPr txBox="1"/>
          <p:nvPr/>
        </p:nvSpPr>
        <p:spPr>
          <a:xfrm>
            <a:off x="6903073" y="1763040"/>
            <a:ext cx="3840479" cy="9592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300"/>
              </a:spcAft>
            </a:pPr>
            <a:r>
              <a:rPr sz="1200" b="1">
                <a:solidFill>
                  <a:srgbClr val="0284C7"/>
                </a:solidFill>
              </a:rPr>
              <a:t>OPERATIONAL FEASIBILITY</a:t>
            </a:r>
          </a:p>
          <a:p>
            <a:pPr>
              <a:spcAft>
                <a:spcPts val="200"/>
              </a:spcAft>
            </a:pPr>
            <a:r>
              <a:rPr sz="950" b="0">
                <a:solidFill>
                  <a:srgbClr val="0F172A"/>
                </a:solidFill>
              </a:rPr>
              <a:t>• Zero client install — responsive React web console with 1-click PDF export</a:t>
            </a:r>
          </a:p>
          <a:p>
            <a:pPr>
              <a:spcAft>
                <a:spcPts val="200"/>
              </a:spcAft>
            </a:pPr>
            <a:r>
              <a:rPr sz="950" b="0">
                <a:solidFill>
                  <a:srgbClr val="0F172A"/>
                </a:solidFill>
              </a:rPr>
              <a:t>• Real-time GIS radar map with DBSCAN cluster overlay for port officers</a:t>
            </a:r>
          </a:p>
          <a:p>
            <a:r>
              <a:rPr sz="950" b="0">
                <a:solidFill>
                  <a:srgbClr val="0F172A"/>
                </a:solidFill>
              </a:rPr>
              <a:t>• Automated laycan recommendation aligns seamlessly with steel plant inventory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52AEDF8F-FFAE-EEB7-C90C-AA2430A93CB2}"/>
              </a:ext>
            </a:extLst>
          </p:cNvPr>
          <p:cNvSpPr/>
          <p:nvPr/>
        </p:nvSpPr>
        <p:spPr>
          <a:xfrm>
            <a:off x="6766122" y="3296291"/>
            <a:ext cx="3840480" cy="1415395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5BDAA57-8F18-1CB9-7AE7-755EDF4C1905}"/>
              </a:ext>
            </a:extLst>
          </p:cNvPr>
          <p:cNvSpPr txBox="1"/>
          <p:nvPr/>
        </p:nvSpPr>
        <p:spPr>
          <a:xfrm>
            <a:off x="6926971" y="3326691"/>
            <a:ext cx="3715789" cy="9592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300"/>
              </a:spcAft>
            </a:pPr>
            <a:r>
              <a:rPr sz="1200" b="1">
                <a:solidFill>
                  <a:srgbClr val="8064A2"/>
                </a:solidFill>
              </a:rPr>
              <a:t>CONNECTIVITY &amp; DATA RESILIENCE</a:t>
            </a:r>
          </a:p>
          <a:p>
            <a:pPr>
              <a:spcAft>
                <a:spcPts val="200"/>
              </a:spcAft>
            </a:pPr>
            <a:r>
              <a:rPr sz="950" b="0">
                <a:solidFill>
                  <a:srgbClr val="0F172A"/>
                </a:solidFill>
              </a:rPr>
              <a:t>• Uses open broadcast AIS transponder feeds (No classified dependencies)</a:t>
            </a:r>
          </a:p>
          <a:p>
            <a:pPr>
              <a:spcAft>
                <a:spcPts val="200"/>
              </a:spcAft>
            </a:pPr>
            <a:r>
              <a:rPr sz="950" b="0">
                <a:solidFill>
                  <a:srgbClr val="0F172A"/>
                </a:solidFill>
              </a:rPr>
              <a:t>• Cached offline fallback models execute seamlessly during network outages</a:t>
            </a:r>
          </a:p>
          <a:p>
            <a:r>
              <a:rPr sz="950" b="0">
                <a:solidFill>
                  <a:srgbClr val="0F172A"/>
                </a:solidFill>
              </a:rPr>
              <a:t>• FastAPI microservice executes multi-horizon trigger in &lt; 45 ms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2E94B0EF-EF65-478D-850E-629E3487A319}"/>
              </a:ext>
            </a:extLst>
          </p:cNvPr>
          <p:cNvSpPr/>
          <p:nvPr/>
        </p:nvSpPr>
        <p:spPr>
          <a:xfrm>
            <a:off x="6699250" y="4800600"/>
            <a:ext cx="3840480" cy="1371600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AC71A41-165F-1446-F348-219A671097D1}"/>
              </a:ext>
            </a:extLst>
          </p:cNvPr>
          <p:cNvSpPr txBox="1"/>
          <p:nvPr/>
        </p:nvSpPr>
        <p:spPr>
          <a:xfrm>
            <a:off x="6858000" y="4800600"/>
            <a:ext cx="3683000" cy="9592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300"/>
              </a:spcAft>
            </a:pPr>
            <a:r>
              <a:rPr sz="1200" b="1">
                <a:solidFill>
                  <a:srgbClr val="059669"/>
                </a:solidFill>
              </a:rPr>
              <a:t>FINANCIAL &amp; REGULATORY VIABILITY</a:t>
            </a:r>
          </a:p>
          <a:p>
            <a:pPr>
              <a:spcAft>
                <a:spcPts val="200"/>
              </a:spcAft>
            </a:pPr>
            <a:r>
              <a:rPr sz="950" b="0">
                <a:solidFill>
                  <a:srgbClr val="0F172A"/>
                </a:solidFill>
              </a:rPr>
              <a:t>• Pre-aligned with CVC Circular 02/05/2022 and GFR 2017 Rule 144</a:t>
            </a:r>
          </a:p>
          <a:p>
            <a:pPr>
              <a:spcAft>
                <a:spcPts val="200"/>
              </a:spcAft>
            </a:pPr>
            <a:r>
              <a:rPr sz="950" b="0">
                <a:solidFill>
                  <a:srgbClr val="0F172A"/>
                </a:solidFill>
              </a:rPr>
              <a:t>• Eliminates subjective vigilance inquiries via SHA-256 digital audit hashes</a:t>
            </a:r>
          </a:p>
          <a:p>
            <a:r>
              <a:rPr sz="950" b="0">
                <a:solidFill>
                  <a:srgbClr val="0F172A"/>
                </a:solidFill>
              </a:rPr>
              <a:t>• High ROI — Saves ₹5.92 Cr on a single 120,000 MT Capesize cargo voyage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30DE2A-E431-2DB2-0F4A-480B0BCE44C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71C2CBCC-1AEB-357F-F79B-3367A585139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7410" name="Picture 17409" descr="pad_ce_dashboard_mocku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490" y="1895214"/>
            <a:ext cx="4982744" cy="337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287482" y="237335"/>
            <a:ext cx="10972800" cy="1143000"/>
          </a:xfrm>
        </p:spPr>
        <p:txBody>
          <a:bodyPr/>
          <a:lstStyle/>
          <a:p>
            <a:r>
              <a:rPr sz="2100" b="1">
                <a:solidFill>
                  <a:srgbClr val="0A192F"/>
                </a:solidFill>
              </a:rPr>
              <a:t>IMPACT AND BENEFITS — Quadruple Bottom-Line Transformation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0" y="1501"/>
            <a:ext cx="1251857" cy="715472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F172A"/>
                </a:solidFill>
              </a:rPr>
              <a:t>PAD-CE AI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20136" y="1500"/>
            <a:ext cx="1709799" cy="807335"/>
          </a:xfrm>
          <a:prstGeom prst="rect">
            <a:avLst/>
          </a:prstGeom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8B244A4-726F-47B2-1E8E-745E671259F9}"/>
              </a:ext>
            </a:extLst>
          </p:cNvPr>
          <p:cNvSpPr/>
          <p:nvPr/>
        </p:nvSpPr>
        <p:spPr>
          <a:xfrm>
            <a:off x="625928" y="1600200"/>
            <a:ext cx="2670464" cy="1117600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392045F-C6C7-96CD-C5FF-C4A306B1EAE0}"/>
              </a:ext>
            </a:extLst>
          </p:cNvPr>
          <p:cNvSpPr txBox="1"/>
          <p:nvPr/>
        </p:nvSpPr>
        <p:spPr>
          <a:xfrm>
            <a:off x="727528" y="1651000"/>
            <a:ext cx="2467264" cy="74892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059669"/>
                </a:solidFill>
              </a:rPr>
              <a:t>💰 ECONOMIC BENEFIT:</a:t>
            </a:r>
          </a:p>
          <a:p>
            <a:pPr>
              <a:spcAft>
                <a:spcPts val="100"/>
              </a:spcAft>
            </a:pPr>
            <a:r>
              <a:rPr sz="950" b="0">
                <a:solidFill>
                  <a:srgbClr val="0F172A"/>
                </a:solidFill>
              </a:rPr>
              <a:t>• ₹120–₹350 Cr/yr procurement savings</a:t>
            </a:r>
          </a:p>
          <a:p>
            <a:pPr>
              <a:spcAft>
                <a:spcPts val="100"/>
              </a:spcAft>
            </a:pPr>
            <a:r>
              <a:rPr sz="950" b="0">
                <a:solidFill>
                  <a:srgbClr val="0F172A"/>
                </a:solidFill>
              </a:rPr>
              <a:t>• ₹40–₹180 Cr demurrage avoidance</a:t>
            </a:r>
          </a:p>
          <a:p>
            <a:r>
              <a:rPr sz="950" b="0">
                <a:solidFill>
                  <a:srgbClr val="0F172A"/>
                </a:solidFill>
              </a:rPr>
              <a:t>• 3.2%–7.8% lower landed steel cost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DC4DB71-B639-7CDD-FCFA-C4E6AC4851B6}"/>
              </a:ext>
            </a:extLst>
          </p:cNvPr>
          <p:cNvSpPr/>
          <p:nvPr/>
        </p:nvSpPr>
        <p:spPr>
          <a:xfrm>
            <a:off x="4269674" y="1600200"/>
            <a:ext cx="2670464" cy="1117600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99A7A94-C306-09E1-E5AF-566915391A57}"/>
              </a:ext>
            </a:extLst>
          </p:cNvPr>
          <p:cNvSpPr txBox="1"/>
          <p:nvPr/>
        </p:nvSpPr>
        <p:spPr>
          <a:xfrm>
            <a:off x="4371274" y="1651000"/>
            <a:ext cx="2467264" cy="74892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0284C7"/>
                </a:solidFill>
              </a:rPr>
              <a:t>⚙️ OPERATIONAL BENEFIT</a:t>
            </a:r>
          </a:p>
          <a:p>
            <a:pPr>
              <a:spcAft>
                <a:spcPts val="100"/>
              </a:spcAft>
            </a:pPr>
            <a:r>
              <a:rPr sz="950" b="0">
                <a:solidFill>
                  <a:srgbClr val="0F172A"/>
                </a:solidFill>
              </a:rPr>
              <a:t>• 4 Days → 25 Mins tender latency</a:t>
            </a:r>
          </a:p>
          <a:p>
            <a:pPr>
              <a:spcAft>
                <a:spcPts val="100"/>
              </a:spcAft>
            </a:pPr>
            <a:r>
              <a:rPr sz="950" b="0">
                <a:solidFill>
                  <a:srgbClr val="0F172A"/>
                </a:solidFill>
              </a:rPr>
              <a:t>• Zero anchorage demurrage shocks</a:t>
            </a:r>
          </a:p>
          <a:p>
            <a:r>
              <a:rPr sz="950" b="0">
                <a:solidFill>
                  <a:srgbClr val="0F172A"/>
                </a:solidFill>
              </a:rPr>
              <a:t>• Blast furnace buffer guaranteed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5EC8FF3-65D3-55D5-9351-9BBF186F5748}"/>
              </a:ext>
            </a:extLst>
          </p:cNvPr>
          <p:cNvSpPr/>
          <p:nvPr/>
        </p:nvSpPr>
        <p:spPr>
          <a:xfrm>
            <a:off x="7988300" y="1600200"/>
            <a:ext cx="2670464" cy="1117600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551AC2D-A139-8129-551F-E953BB5BF92F}"/>
              </a:ext>
            </a:extLst>
          </p:cNvPr>
          <p:cNvSpPr txBox="1"/>
          <p:nvPr/>
        </p:nvSpPr>
        <p:spPr>
          <a:xfrm>
            <a:off x="8089900" y="1651000"/>
            <a:ext cx="2467264" cy="74892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059669"/>
                </a:solidFill>
              </a:rPr>
              <a:t>🌿 ENVIRONMENTAL BENEFIT</a:t>
            </a:r>
          </a:p>
          <a:p>
            <a:pPr>
              <a:spcAft>
                <a:spcPts val="100"/>
              </a:spcAft>
            </a:pPr>
            <a:r>
              <a:rPr sz="950" b="0">
                <a:solidFill>
                  <a:srgbClr val="0F172A"/>
                </a:solidFill>
              </a:rPr>
              <a:t>• Slow-steaming cuts anchorage idling</a:t>
            </a:r>
          </a:p>
          <a:p>
            <a:pPr>
              <a:spcAft>
                <a:spcPts val="100"/>
              </a:spcAft>
            </a:pPr>
            <a:r>
              <a:rPr sz="950" b="0">
                <a:solidFill>
                  <a:srgbClr val="0F172A"/>
                </a:solidFill>
              </a:rPr>
              <a:t>• Saves 800–1,200 MT CO2 / voyage</a:t>
            </a:r>
          </a:p>
          <a:p>
            <a:r>
              <a:rPr sz="950" b="0">
                <a:solidFill>
                  <a:srgbClr val="0F172A"/>
                </a:solidFill>
              </a:rPr>
              <a:t>• Supports Green Maritime India 2030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94F77843-6B50-D5B9-581E-B654194FEDF1}"/>
              </a:ext>
            </a:extLst>
          </p:cNvPr>
          <p:cNvSpPr/>
          <p:nvPr/>
        </p:nvSpPr>
        <p:spPr>
          <a:xfrm>
            <a:off x="3349375" y="2006600"/>
            <a:ext cx="913000" cy="304800"/>
          </a:xfrm>
          <a:prstGeom prst="rightArrow">
            <a:avLst/>
          </a:prstGeom>
          <a:solidFill>
            <a:srgbClr val="32323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C69757E9-C8F5-A68C-1BD7-F47C1B95C334}"/>
              </a:ext>
            </a:extLst>
          </p:cNvPr>
          <p:cNvSpPr/>
          <p:nvPr/>
        </p:nvSpPr>
        <p:spPr>
          <a:xfrm>
            <a:off x="7000420" y="2006600"/>
            <a:ext cx="973282" cy="304800"/>
          </a:xfrm>
          <a:prstGeom prst="rightArrow">
            <a:avLst/>
          </a:prstGeom>
          <a:solidFill>
            <a:srgbClr val="32323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D03356E5-60E5-2B1C-14C5-64B5F35052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4044713"/>
              </p:ext>
            </p:extLst>
          </p:nvPr>
        </p:nvGraphicFramePr>
        <p:xfrm>
          <a:off x="1361209" y="3082933"/>
          <a:ext cx="9185564" cy="276352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2296391">
                  <a:extLst>
                    <a:ext uri="{9D8B030D-6E8A-4147-A177-3AD203B41FA5}">
                      <a16:colId xmlns:a16="http://schemas.microsoft.com/office/drawing/2014/main" val="3189813905"/>
                    </a:ext>
                  </a:extLst>
                </a:gridCol>
                <a:gridCol w="2296391">
                  <a:extLst>
                    <a:ext uri="{9D8B030D-6E8A-4147-A177-3AD203B41FA5}">
                      <a16:colId xmlns:a16="http://schemas.microsoft.com/office/drawing/2014/main" val="1313371615"/>
                    </a:ext>
                  </a:extLst>
                </a:gridCol>
                <a:gridCol w="2296391">
                  <a:extLst>
                    <a:ext uri="{9D8B030D-6E8A-4147-A177-3AD203B41FA5}">
                      <a16:colId xmlns:a16="http://schemas.microsoft.com/office/drawing/2014/main" val="2022952270"/>
                    </a:ext>
                  </a:extLst>
                </a:gridCol>
                <a:gridCol w="2296391">
                  <a:extLst>
                    <a:ext uri="{9D8B030D-6E8A-4147-A177-3AD203B41FA5}">
                      <a16:colId xmlns:a16="http://schemas.microsoft.com/office/drawing/2014/main" val="30838131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Capability</a:t>
                      </a:r>
                    </a:p>
                  </a:txBody>
                  <a:tcPr anchor="ctr"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Conventional Broker / Excel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S&amp;P Platts / Clarksons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PAD-CE Smart Engine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44416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0F172A"/>
                          </a:solidFill>
                        </a:rPr>
                        <a:t>Core Function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F172A"/>
                          </a:solidFill>
                        </a:rPr>
                        <a:t>Static spreadsheets &amp; calls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F172A"/>
                          </a:solidFill>
                        </a:rPr>
                        <a:t>Market price reporting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059669"/>
                          </a:solidFill>
                        </a:rPr>
                        <a:t>Autonomous Prescriptive Chartering</a:t>
                      </a:r>
                    </a:p>
                  </a:txBody>
                  <a:tcPr>
                    <a:solidFill>
                      <a:srgbClr val="E8F5E9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36187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0F172A"/>
                          </a:solidFill>
                        </a:rPr>
                        <a:t>Demurrage Protection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F172A"/>
                          </a:solidFill>
                        </a:rPr>
                        <a:t>Post-facto penalty shock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F172A"/>
                          </a:solidFill>
                        </a:rPr>
                        <a:t>None (ex-port index)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059669"/>
                          </a:solidFill>
                        </a:rPr>
                        <a:t>Dynamic Dwell-Time Risk Factoring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18847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0F172A"/>
                          </a:solidFill>
                        </a:rPr>
                        <a:t>Speed Optimization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F172A"/>
                          </a:solidFill>
                        </a:rPr>
                        <a:t>Fixed speed assumption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F172A"/>
                          </a:solidFill>
                        </a:rPr>
                        <a:t>Unmonitored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059669"/>
                          </a:solidFill>
                        </a:rPr>
                        <a:t>Slow-Steaming Speed vs. Queue Tradeoff</a:t>
                      </a:r>
                    </a:p>
                  </a:txBody>
                  <a:tcPr>
                    <a:solidFill>
                      <a:srgbClr val="E8F5E9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03284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0F172A"/>
                          </a:solidFill>
                        </a:rPr>
                        <a:t>Data Access Barrier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F172A"/>
                          </a:solidFill>
                        </a:rPr>
                        <a:t>Broker dependency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F172A"/>
                          </a:solidFill>
                        </a:rPr>
                        <a:t>$40k+/yr enterprise paywall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059669"/>
                          </a:solidFill>
                        </a:rPr>
                        <a:t>100% Open Data (AIS + Baltic Feeds)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08197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0F172A"/>
                          </a:solidFill>
                        </a:rPr>
                        <a:t>Audit Compliance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F172A"/>
                          </a:solidFill>
                        </a:rPr>
                        <a:t>Subjective audit risk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F172A"/>
                          </a:solidFill>
                        </a:rPr>
                        <a:t>Third-party black-box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059669"/>
                          </a:solidFill>
                        </a:rPr>
                        <a:t>1-Click CVC/CAG Audit Trail (SHA-256)</a:t>
                      </a:r>
                    </a:p>
                  </a:txBody>
                  <a:tcPr>
                    <a:solidFill>
                      <a:srgbClr val="E8F5E9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9143873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91CC2251-C7F0-71AE-6670-BE0C185A0E42}"/>
              </a:ext>
            </a:extLst>
          </p:cNvPr>
          <p:cNvSpPr txBox="1"/>
          <p:nvPr/>
        </p:nvSpPr>
        <p:spPr>
          <a:xfrm>
            <a:off x="363682" y="5933209"/>
            <a:ext cx="1078576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950" b="1">
                <a:solidFill>
                  <a:srgbClr val="0284C7"/>
                </a:solidFill>
              </a:rPr>
              <a:t>• Policy Alignment: Supports Aatmanirbhar Bharat, accelerates National Steel Policy 2030, and integrates with the Sagarmala Port Community System (PCS 1x)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 b="1">
                <a:solidFill>
                  <a:srgbClr val="0A192F"/>
                </a:solidFill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F172A"/>
                </a:solidFill>
              </a:rPr>
              <a:t>PAD-CE AI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ABF172F-078D-A21F-F9D5-6C4BF0D0A65E}"/>
              </a:ext>
            </a:extLst>
          </p:cNvPr>
          <p:cNvSpPr txBox="1"/>
          <p:nvPr/>
        </p:nvSpPr>
        <p:spPr>
          <a:xfrm>
            <a:off x="330200" y="1269999"/>
            <a:ext cx="6731000" cy="240020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0A192F"/>
                </a:solidFill>
              </a:rPr>
              <a:t>RESEARCH BACKING &amp; EVIDENCE BASE</a:t>
            </a:r>
          </a:p>
          <a:p>
            <a:pPr>
              <a:spcAft>
                <a:spcPts val="500"/>
              </a:spcAft>
            </a:pPr>
            <a:r>
              <a:rPr sz="1050" b="1">
                <a:solidFill>
                  <a:srgbClr val="0F172A"/>
                </a:solidFill>
              </a:rPr>
              <a:t>• Kamal et al. (MDPI 2020) </a:t>
            </a:r>
            <a:r>
              <a:rPr sz="1000" b="0">
                <a:solidFill>
                  <a:srgbClr val="0F172A"/>
                </a:solidFill>
              </a:rPr>
              <a:t>— Deep Ensemble Recurrent Networks (DERN) for multi-horizon BDI prediction </a:t>
            </a:r>
            <a:r>
              <a:rPr sz="1000" b="1">
                <a:solidFill>
                  <a:srgbClr val="059669"/>
                </a:solidFill>
              </a:rPr>
              <a:t>→ Validates rate forecasting core</a:t>
            </a:r>
          </a:p>
          <a:p>
            <a:pPr>
              <a:spcAft>
                <a:spcPts val="500"/>
              </a:spcAft>
            </a:pPr>
            <a:r>
              <a:rPr sz="1050" b="1">
                <a:solidFill>
                  <a:srgbClr val="0F172A"/>
                </a:solidFill>
              </a:rPr>
              <a:t>• Gonçalves, F. (MIT Ocean Eng Ph.D.) </a:t>
            </a:r>
            <a:r>
              <a:rPr sz="1000" b="0">
                <a:solidFill>
                  <a:srgbClr val="0F172A"/>
                </a:solidFill>
              </a:rPr>
              <a:t>— Stochastic optimal control &amp; trigger pricing in bulk shipping </a:t>
            </a:r>
            <a:r>
              <a:rPr sz="1000" b="1">
                <a:solidFill>
                  <a:srgbClr val="059669"/>
                </a:solidFill>
              </a:rPr>
              <a:t>→ Validates S₁* / S₂* stopping rules</a:t>
            </a:r>
          </a:p>
          <a:p>
            <a:pPr>
              <a:spcAft>
                <a:spcPts val="500"/>
              </a:spcAft>
            </a:pPr>
            <a:r>
              <a:rPr sz="1050" b="1">
                <a:solidFill>
                  <a:srgbClr val="0F172A"/>
                </a:solidFill>
              </a:rPr>
              <a:t>• Ester et al. (KDD-96) </a:t>
            </a:r>
            <a:r>
              <a:rPr sz="1000" b="0">
                <a:solidFill>
                  <a:srgbClr val="0F172A"/>
                </a:solidFill>
              </a:rPr>
              <a:t>— DBSCAN density spatial clustering </a:t>
            </a:r>
            <a:r>
              <a:rPr sz="1000" b="1">
                <a:solidFill>
                  <a:srgbClr val="059669"/>
                </a:solidFill>
              </a:rPr>
              <a:t>→ Validates anchorage vessel grouping without private port telemetry</a:t>
            </a:r>
          </a:p>
          <a:p>
            <a:pPr>
              <a:spcAft>
                <a:spcPts val="500"/>
              </a:spcAft>
            </a:pPr>
            <a:r>
              <a:rPr sz="1050" b="1">
                <a:solidFill>
                  <a:srgbClr val="0F172A"/>
                </a:solidFill>
              </a:rPr>
              <a:t>• Lundberg &amp; Lee (NeurIPS 2017) </a:t>
            </a:r>
            <a:r>
              <a:rPr sz="1000" b="0">
                <a:solidFill>
                  <a:srgbClr val="0F172A"/>
                </a:solidFill>
              </a:rPr>
              <a:t>— SHAP tree/kernel explainability </a:t>
            </a:r>
            <a:r>
              <a:rPr sz="1000" b="1">
                <a:solidFill>
                  <a:srgbClr val="059669"/>
                </a:solidFill>
              </a:rPr>
              <a:t>→ Validates factor weightings for government procurement oversight</a:t>
            </a:r>
          </a:p>
          <a:p>
            <a:r>
              <a:rPr sz="1050" b="1">
                <a:solidFill>
                  <a:srgbClr val="0F172A"/>
                </a:solidFill>
              </a:rPr>
              <a:t>• CVC Circular 02/05/2022 &amp; GFR 2017 Rule 144 </a:t>
            </a:r>
            <a:r>
              <a:rPr sz="1000" b="0">
                <a:solidFill>
                  <a:srgbClr val="0F172A"/>
                </a:solidFill>
              </a:rPr>
              <a:t>— Public procurement transparency &amp; audit trail archiving </a:t>
            </a:r>
            <a:r>
              <a:rPr sz="1000" b="1">
                <a:solidFill>
                  <a:srgbClr val="059669"/>
                </a:solidFill>
              </a:rPr>
              <a:t>→ Validates public procurement compliance framework</a:t>
            </a:r>
          </a:p>
        </p:txBody>
      </p:sp>
      <p:sp>
        <p:nvSpPr>
          <p:cNvPr id="5" name="RoadmapCard">
            <a:extLst>
              <a:ext uri="{FF2B5EF4-FFF2-40B4-BE49-F238E27FC236}">
                <a16:creationId xmlns:a16="http://schemas.microsoft.com/office/drawing/2014/main" id="{94FB782B-7203-1194-E744-7D96D9DBAC9C}"/>
              </a:ext>
            </a:extLst>
          </p:cNvPr>
          <p:cNvSpPr/>
          <p:nvPr/>
        </p:nvSpPr>
        <p:spPr>
          <a:xfrm>
            <a:off x="7302500" y="1295400"/>
            <a:ext cx="4572000" cy="48006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25400">
            <a:solidFill>
              <a:srgbClr val="8064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oadmapText">
            <a:extLst>
              <a:ext uri="{FF2B5EF4-FFF2-40B4-BE49-F238E27FC236}">
                <a16:creationId xmlns:a16="http://schemas.microsoft.com/office/drawing/2014/main" id="{D7596D8A-588B-15AD-2D32-9DB871784BA1}"/>
              </a:ext>
            </a:extLst>
          </p:cNvPr>
          <p:cNvSpPr txBox="1"/>
          <p:nvPr/>
        </p:nvSpPr>
        <p:spPr>
          <a:xfrm>
            <a:off x="7505700" y="1498600"/>
            <a:ext cx="4165600" cy="25047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500"/>
              </a:spcAft>
            </a:pPr>
            <a:r>
              <a:rPr sz="1200" b="1">
                <a:solidFill>
                  <a:srgbClr val="8064A2"/>
                </a:solidFill>
              </a:rPr>
              <a:t>SCALABILITY &amp; GROWTH ROADMAP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0F172A"/>
                </a:solidFill>
              </a:rPr>
              <a:t>• Phase 1 (MVP, Months 1–3): </a:t>
            </a:r>
            <a:r>
              <a:rPr sz="950" b="0">
                <a:solidFill>
                  <a:srgbClr val="0F172A"/>
                </a:solidFill>
              </a:rPr>
              <a:t>Gladstone/Tanjung Bara → Paradip/Vizag (Hard Coking Coal Capesize Fleet)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0F172A"/>
                </a:solidFill>
              </a:rPr>
              <a:t>• Phase 2 (PSU Scale, Months 4–6): </a:t>
            </a:r>
            <a:r>
              <a:rPr sz="950" b="0">
                <a:solidFill>
                  <a:srgbClr val="0F172A"/>
                </a:solidFill>
              </a:rPr>
              <a:t>All 5 SAIL Plants (Bhilai, Rourkela, Bokaro, etc.) + RINL Steel Plant</a:t>
            </a:r>
          </a:p>
          <a:p>
            <a:pPr>
              <a:spcAft>
                <a:spcPts val="800"/>
              </a:spcAft>
            </a:pPr>
            <a:r>
              <a:rPr sz="1000" b="1">
                <a:solidFill>
                  <a:srgbClr val="0F172A"/>
                </a:solidFill>
              </a:rPr>
              <a:t>• Phase 3 (National, Months 7–12): </a:t>
            </a:r>
            <a:r>
              <a:rPr sz="950" b="0">
                <a:solidFill>
                  <a:srgbClr val="0F172A"/>
                </a:solidFill>
              </a:rPr>
              <a:t>Ministry of Power (Thermal Coal), MoPNG (Crude Oil), Sagarmala PCS 1x integration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0284C7"/>
                </a:solidFill>
              </a:rPr>
              <a:t>PROJECT REPOSITORY</a:t>
            </a:r>
          </a:p>
          <a:p>
            <a:pPr>
              <a:spcAft>
                <a:spcPts val="300"/>
              </a:spcAft>
            </a:pPr>
            <a:r>
              <a:rPr sz="1000" b="1">
                <a:solidFill>
                  <a:srgbClr val="0F172A"/>
                </a:solidFill>
              </a:rPr>
              <a:t>• GitHub: </a:t>
            </a:r>
            <a:r>
              <a:rPr sz="950" b="0">
                <a:solidFill>
                  <a:srgbClr val="0284C7"/>
                </a:solidFill>
              </a:rPr>
              <a:t>github.com/PAD-CE/Maritime-Chartering-AI-SIH2026</a:t>
            </a:r>
          </a:p>
          <a:p>
            <a:r>
              <a:rPr sz="1000" b="1">
                <a:solidFill>
                  <a:srgbClr val="0F172A"/>
                </a:solidFill>
              </a:rPr>
              <a:t>• Live API Docs: </a:t>
            </a:r>
            <a:r>
              <a:rPr sz="950" b="0">
                <a:solidFill>
                  <a:srgbClr val="0284C7"/>
                </a:solidFill>
              </a:rPr>
              <a:t>api.pad-ce.gov.in/docs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7747</TotalTime>
  <Words>1036</Words>
  <Application>Microsoft Office PowerPoint</Application>
  <PresentationFormat>Widescreen</PresentationFormat>
  <Paragraphs>144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Cambria Math</vt:lpstr>
      <vt:lpstr>Garamond</vt:lpstr>
      <vt:lpstr>Times New Roman</vt:lpstr>
      <vt:lpstr>TradeGothic</vt:lpstr>
      <vt:lpstr>Office Theme</vt:lpstr>
      <vt:lpstr>SMART INDIA HACKATHON 2026</vt:lpstr>
      <vt:lpstr>Autonomous Multi-Channel Routing &amp; Financial Khata</vt:lpstr>
      <vt:lpstr>TECHNICAL APPROACH — One-Way Pipeline &amp; Decoupled Architecture</vt:lpstr>
      <vt:lpstr>FEASIBILITY AND VIABILITY — Human-Centered Accessibility &amp; Systems Viability</vt:lpstr>
      <vt:lpstr>IMPACT AND BENEFITS — Quadruple Bottom-Line Transformation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Dhusyanth R</cp:lastModifiedBy>
  <cp:revision>161</cp:revision>
  <dcterms:created xsi:type="dcterms:W3CDTF">2013-12-12T18:46:50Z</dcterms:created>
  <dcterms:modified xsi:type="dcterms:W3CDTF">2026-09-05T12:32:33Z</dcterms:modified>
  <cp:category/>
</cp:coreProperties>
</file>